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A8F6"/>
    <a:srgbClr val="0F7FF6"/>
    <a:srgbClr val="7BBC49"/>
    <a:srgbClr val="77BB69"/>
    <a:srgbClr val="329AD7"/>
    <a:srgbClr val="F7F9FC"/>
    <a:srgbClr val="9DC0E3"/>
    <a:srgbClr val="DFEAF6"/>
    <a:srgbClr val="E1E0E0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491" autoAdjust="0"/>
    <p:restoredTop sz="94607" autoAdjust="0"/>
  </p:normalViewPr>
  <p:slideViewPr>
    <p:cSldViewPr snapToGrid="0" showGuides="1">
      <p:cViewPr varScale="1">
        <p:scale>
          <a:sx n="47" d="100"/>
          <a:sy n="47" d="100"/>
        </p:scale>
        <p:origin x="1728" y="38"/>
      </p:cViewPr>
      <p:guideLst>
        <p:guide orient="horz" pos="235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CE6E62-0A4A-440F-A3A0-1904151E0F67}" type="datetimeFigureOut">
              <a:rPr lang="zh-CN" altLang="en-US" smtClean="0"/>
              <a:t>2026/10/30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/>
          </a:p>
          <a:p>
            <a:pPr lvl="1"/>
            <a:r>
              <a:rPr lang="zh-CN" altLang="en-US"/>
              <a:t>第二级</a:t>
            </a:r>
            <a:endParaRPr/>
          </a:p>
          <a:p>
            <a:pPr lvl="2"/>
            <a:r>
              <a:rPr lang="zh-CN" altLang="en-US"/>
              <a:t>第三级</a:t>
            </a:r>
            <a:endParaRPr/>
          </a:p>
          <a:p>
            <a:pPr lvl="3"/>
            <a:r>
              <a:rPr lang="zh-CN" altLang="en-US"/>
              <a:t>第四级</a:t>
            </a:r>
            <a:endParaRPr/>
          </a:p>
          <a:p>
            <a:pPr lvl="4"/>
            <a:r>
              <a:rPr lang="zh-CN" altLang="en-US"/>
              <a:t>第五级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5C4DF4-6413-405D-8311-20A510DC5E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C4DF4-6413-405D-8311-20A510DC5EFC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3" name="图片 7" descr="基金会+OH logo组合-0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3710" y="304165"/>
            <a:ext cx="3564890" cy="1234440"/>
          </a:xfrm>
          <a:prstGeom prst="rect">
            <a:avLst/>
          </a:prstGeom>
        </p:spPr>
      </p:pic>
      <p:grpSp>
        <p:nvGrpSpPr>
          <p:cNvPr id="4" name="组合 13"/>
          <p:cNvGrpSpPr/>
          <p:nvPr userDrawn="1"/>
        </p:nvGrpSpPr>
        <p:grpSpPr>
          <a:xfrm>
            <a:off x="9906635" y="6367145"/>
            <a:ext cx="2199640" cy="344805"/>
            <a:chOff x="15601" y="10027"/>
            <a:chExt cx="3464" cy="543"/>
          </a:xfrm>
        </p:grpSpPr>
        <p:sp>
          <p:nvSpPr>
            <p:cNvPr id="5" name="文本框 14"/>
            <p:cNvSpPr txBox="1"/>
            <p:nvPr userDrawn="1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lnSpc>
                  <a:spcPct val="130000"/>
                </a:lnSpc>
              </a:pPr>
              <a:r>
                <a:rPr lang="zh-CN" altLang="en-US" sz="1400" kern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/>
            </a:p>
          </p:txBody>
        </p:sp>
        <p:cxnSp>
          <p:nvCxnSpPr>
            <p:cNvPr id="6" name="直接连接符 15"/>
            <p:cNvCxnSpPr/>
            <p:nvPr userDrawn="1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F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1"/>
          <p:cNvPicPr>
            <a:picLocks noChangeAspect="1"/>
          </p:cNvPicPr>
          <p:nvPr userDrawn="1"/>
        </p:nvPicPr>
        <p:blipFill rotWithShape="1">
          <a:blip r:embed="rId2" cstate="print">
            <a:alphaModFix amt="20000"/>
          </a:blip>
          <a:srcRect b="13216"/>
          <a:stretch/>
        </p:blipFill>
        <p:spPr>
          <a:xfrm>
            <a:off x="7546126" y="0"/>
            <a:ext cx="4151671" cy="5794408"/>
          </a:xfrm>
          <a:prstGeom prst="rect">
            <a:avLst/>
          </a:prstGeom>
        </p:spPr>
      </p:pic>
      <p:grpSp>
        <p:nvGrpSpPr>
          <p:cNvPr id="9" name="组合 2"/>
          <p:cNvGrpSpPr/>
          <p:nvPr userDrawn="1"/>
        </p:nvGrpSpPr>
        <p:grpSpPr>
          <a:xfrm>
            <a:off x="9763201" y="6305810"/>
            <a:ext cx="2199640" cy="344805"/>
            <a:chOff x="15601" y="10027"/>
            <a:chExt cx="3464" cy="543"/>
          </a:xfrm>
        </p:grpSpPr>
        <p:sp>
          <p:nvSpPr>
            <p:cNvPr id="10" name="文本框 3"/>
            <p:cNvSpPr txBox="1"/>
            <p:nvPr userDrawn="1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lnSpc>
                  <a:spcPct val="130000"/>
                </a:lnSpc>
              </a:pPr>
              <a:r>
                <a:rPr lang="zh-CN" altLang="en-US" sz="1400" kern="1200" dirty="0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/>
            </a:p>
          </p:txBody>
        </p:sp>
        <p:cxnSp>
          <p:nvCxnSpPr>
            <p:cNvPr id="11" name="直接连接符 15"/>
            <p:cNvCxnSpPr/>
            <p:nvPr userDrawn="1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12" name="图片 9"/>
          <p:cNvPicPr>
            <a:picLocks noChangeAspect="1"/>
          </p:cNvPicPr>
          <p:nvPr userDrawn="1"/>
        </p:nvPicPr>
        <p:blipFill>
          <a:blip r:embed="rId3" cstate="print">
            <a:alphaModFix amt="21000"/>
          </a:blip>
          <a:srcRect/>
          <a:stretch/>
        </p:blipFill>
        <p:spPr>
          <a:xfrm>
            <a:off x="0" y="3261146"/>
            <a:ext cx="2999678" cy="4133416"/>
          </a:xfrm>
          <a:prstGeom prst="rect">
            <a:avLst/>
          </a:prstGeom>
        </p:spPr>
      </p:pic>
      <p:pic>
        <p:nvPicPr>
          <p:cNvPr id="13" name="图片 4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8273" y="0"/>
            <a:ext cx="3483086" cy="13061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45008" y="6356350"/>
            <a:ext cx="274320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bg>
      <p:bgPr>
        <a:solidFill>
          <a:srgbClr val="08A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13"/>
          <p:cNvGrpSpPr/>
          <p:nvPr userDrawn="1"/>
        </p:nvGrpSpPr>
        <p:grpSpPr>
          <a:xfrm>
            <a:off x="9763201" y="6305810"/>
            <a:ext cx="2199640" cy="344805"/>
            <a:chOff x="15601" y="10027"/>
            <a:chExt cx="3464" cy="543"/>
          </a:xfrm>
        </p:grpSpPr>
        <p:sp>
          <p:nvSpPr>
            <p:cNvPr id="25" name="文本框 14"/>
            <p:cNvSpPr txBox="1"/>
            <p:nvPr userDrawn="1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lnSpc>
                  <a:spcPct val="130000"/>
                </a:lnSpc>
              </a:pPr>
              <a:r>
                <a:rPr lang="zh-CN" altLang="en-US" sz="1400" kern="1200" dirty="0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/>
            </a:p>
          </p:txBody>
        </p:sp>
        <p:cxnSp>
          <p:nvCxnSpPr>
            <p:cNvPr id="26" name="直接连接符 15"/>
            <p:cNvCxnSpPr/>
            <p:nvPr userDrawn="1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8" name="文本占位符 9"/>
          <p:cNvSpPr>
            <a:spLocks noGrp="1"/>
          </p:cNvSpPr>
          <p:nvPr>
            <p:ph type="body" sz="quarter" idx="13"/>
          </p:nvPr>
        </p:nvSpPr>
        <p:spPr>
          <a:xfrm>
            <a:off x="215067" y="171415"/>
            <a:ext cx="5966068" cy="4461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CN" altLang="en-US"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/>
              <a:t>单击此处编辑母版文本</a:t>
            </a:r>
            <a:endParaRPr/>
          </a:p>
        </p:txBody>
      </p:sp>
      <p:pic>
        <p:nvPicPr>
          <p:cNvPr id="29" name="图片 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558425" y="0"/>
            <a:ext cx="2350420" cy="881407"/>
          </a:xfrm>
          <a:prstGeom prst="rect">
            <a:avLst/>
          </a:prstGeom>
        </p:spPr>
      </p:pic>
      <p:sp>
        <p:nvSpPr>
          <p:cNvPr id="30" name="矩形 3"/>
          <p:cNvSpPr/>
          <p:nvPr userDrawn="1"/>
        </p:nvSpPr>
        <p:spPr>
          <a:xfrm>
            <a:off x="0" y="0"/>
            <a:ext cx="12192000" cy="781177"/>
          </a:xfrm>
          <a:prstGeom prst="rect">
            <a:avLst/>
          </a:prstGeom>
          <a:solidFill>
            <a:srgbClr val="08A8F6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33" name="图片 3"/>
          <p:cNvPicPr>
            <a:picLocks noChangeAspect="1"/>
          </p:cNvPicPr>
          <p:nvPr userDrawn="1"/>
        </p:nvPicPr>
        <p:blipFill rotWithShape="1">
          <a:blip r:embed="rId2" cstate="print">
            <a:alphaModFix amt="35000"/>
            <a:biLevel thresh="25000"/>
          </a:blip>
          <a:srcRect t="32381"/>
          <a:stretch/>
        </p:blipFill>
        <p:spPr>
          <a:xfrm>
            <a:off x="7482780" y="1381934"/>
            <a:ext cx="3830533" cy="4165580"/>
          </a:xfrm>
          <a:prstGeom prst="rect">
            <a:avLst/>
          </a:prstGeom>
        </p:spPr>
      </p:pic>
      <p:grpSp>
        <p:nvGrpSpPr>
          <p:cNvPr id="34" name="组合 5"/>
          <p:cNvGrpSpPr/>
          <p:nvPr userDrawn="1"/>
        </p:nvGrpSpPr>
        <p:grpSpPr>
          <a:xfrm>
            <a:off x="9763201" y="6305810"/>
            <a:ext cx="2199640" cy="344805"/>
            <a:chOff x="15601" y="10027"/>
            <a:chExt cx="3464" cy="543"/>
          </a:xfrm>
        </p:grpSpPr>
        <p:sp>
          <p:nvSpPr>
            <p:cNvPr id="35" name="文本框 10"/>
            <p:cNvSpPr txBox="1"/>
            <p:nvPr userDrawn="1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lnSpc>
                  <a:spcPct val="130000"/>
                </a:lnSpc>
              </a:pPr>
              <a:r>
                <a:rPr lang="zh-CN" altLang="en-US" sz="1400" kern="1200" dirty="0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/>
            </a:p>
          </p:txBody>
        </p:sp>
        <p:cxnSp>
          <p:nvCxnSpPr>
            <p:cNvPr id="36" name="直接连接符 15"/>
            <p:cNvCxnSpPr/>
            <p:nvPr userDrawn="1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37" name="图片 4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4478" y="0"/>
            <a:ext cx="2350420" cy="8814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40" name="组合 1"/>
          <p:cNvGrpSpPr/>
          <p:nvPr userDrawn="1"/>
        </p:nvGrpSpPr>
        <p:grpSpPr>
          <a:xfrm>
            <a:off x="9763201" y="6305810"/>
            <a:ext cx="2199640" cy="344805"/>
            <a:chOff x="15601" y="10027"/>
            <a:chExt cx="3464" cy="543"/>
          </a:xfrm>
        </p:grpSpPr>
        <p:sp>
          <p:nvSpPr>
            <p:cNvPr id="41" name="文本框 2"/>
            <p:cNvSpPr txBox="1"/>
            <p:nvPr userDrawn="1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lnSpc>
                  <a:spcPct val="130000"/>
                </a:lnSpc>
              </a:pPr>
              <a:r>
                <a:rPr lang="zh-CN" altLang="en-US" sz="1400" kern="1200" dirty="0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/>
            </a:p>
          </p:txBody>
        </p:sp>
        <p:cxnSp>
          <p:nvCxnSpPr>
            <p:cNvPr id="42" name="直接连接符 15"/>
            <p:cNvCxnSpPr/>
            <p:nvPr userDrawn="1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43" name="矩形 9"/>
          <p:cNvSpPr/>
          <p:nvPr userDrawn="1"/>
        </p:nvSpPr>
        <p:spPr>
          <a:xfrm>
            <a:off x="456565" y="1199515"/>
            <a:ext cx="1210588" cy="707886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marL="0" marR="0" lvl="0" indent="0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8A8F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目录</a:t>
            </a:r>
            <a:endParaRPr/>
          </a:p>
        </p:txBody>
      </p:sp>
      <p:sp>
        <p:nvSpPr>
          <p:cNvPr id="44" name="文本框 10"/>
          <p:cNvSpPr txBox="1"/>
          <p:nvPr userDrawn="1"/>
        </p:nvSpPr>
        <p:spPr>
          <a:xfrm>
            <a:off x="481965" y="576640"/>
            <a:ext cx="41249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1"/>
              </a:spcBef>
              <a:spcAft>
                <a:spcPct val="1"/>
              </a:spcAft>
              <a:defRPr/>
            </a:pPr>
            <a:r>
              <a:rPr lang="en-US" altLang="zh-CN" sz="32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 panose="020B0800000000000000" charset="-122"/>
              </a:rPr>
              <a:t>CONTENTS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47" name="组合 5"/>
          <p:cNvGrpSpPr/>
          <p:nvPr userDrawn="1"/>
        </p:nvGrpSpPr>
        <p:grpSpPr>
          <a:xfrm>
            <a:off x="9906635" y="6367145"/>
            <a:ext cx="2199640" cy="344805"/>
            <a:chOff x="15601" y="10027"/>
            <a:chExt cx="3464" cy="543"/>
          </a:xfrm>
        </p:grpSpPr>
        <p:sp>
          <p:nvSpPr>
            <p:cNvPr id="48" name="文本框 6"/>
            <p:cNvSpPr txBox="1"/>
            <p:nvPr userDrawn="1"/>
          </p:nvSpPr>
          <p:spPr>
            <a:xfrm>
              <a:off x="15601" y="10027"/>
              <a:ext cx="3464" cy="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algn="l" defTabSz="914400" rtl="0" eaLnBrk="1" latinLnBrk="0" hangingPunct="1">
                <a:lnSpc>
                  <a:spcPct val="130000"/>
                </a:lnSpc>
              </a:pPr>
              <a:r>
                <a:rPr lang="zh-CN" altLang="en-US" sz="1400" kern="1200" dirty="0">
                  <a:gradFill>
                    <a:gsLst>
                      <a:gs pos="0">
                        <a:srgbClr val="0284E2"/>
                      </a:gs>
                      <a:gs pos="100000">
                        <a:srgbClr val="00B050"/>
                      </a:gs>
                    </a:gsLst>
                    <a:lin ang="0" scaled="0"/>
                  </a:gra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智能终端操作系统根社区</a:t>
              </a:r>
              <a:endParaRPr/>
            </a:p>
          </p:txBody>
        </p:sp>
        <p:cxnSp>
          <p:nvCxnSpPr>
            <p:cNvPr id="49" name="直接连接符 7"/>
            <p:cNvCxnSpPr/>
            <p:nvPr userDrawn="1"/>
          </p:nvCxnSpPr>
          <p:spPr>
            <a:xfrm>
              <a:off x="18007" y="10528"/>
              <a:ext cx="847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A6F9"/>
            </a:gs>
            <a:gs pos="100000">
              <a:srgbClr val="81BD0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Source Han Sans CN Normal" panose="020B0800000000000000" charset="-122"/>
                <a:ea typeface="Source Han Sans CN Normal" panose="020B0800000000000000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文本框 200"/>
          <p:cNvSpPr txBox="1"/>
          <p:nvPr/>
        </p:nvSpPr>
        <p:spPr>
          <a:xfrm>
            <a:off x="1908747" y="1852426"/>
            <a:ext cx="8374507" cy="8309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buNone/>
            </a:pPr>
            <a:r>
              <a:rPr lang="zh-CN" altLang="en-US" sz="48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OH创新大赛赛道三作品提交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1" name="文本框 201"/>
          <p:cNvSpPr txBox="1"/>
          <p:nvPr/>
        </p:nvSpPr>
        <p:spPr>
          <a:xfrm>
            <a:off x="2432175" y="2830000"/>
            <a:ext cx="732765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buNone/>
            </a:pPr>
            <a:r>
              <a:rPr lang="zh-CN" altLang="en-US" sz="2800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算法随想 AlgoFlow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2" name="文本框 202"/>
          <p:cNvSpPr txBox="1"/>
          <p:nvPr/>
        </p:nvSpPr>
        <p:spPr>
          <a:xfrm>
            <a:off x="2432175" y="3480000"/>
            <a:ext cx="732765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  <a:buNone/>
            </a:pPr>
            <a:r>
              <a:rPr lang="zh-CN" altLang="en-US" sz="16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手机记思路，电脑接着写；AI 帮你理清想法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3" name="文本框 203"/>
          <p:cNvSpPr txBox="1"/>
          <p:nvPr/>
        </p:nvSpPr>
        <p:spPr>
          <a:xfrm>
            <a:off x="2417888" y="5040000"/>
            <a:ext cx="7356225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300"/>
              </a:spcAft>
              <a:buNone/>
            </a:pPr>
            <a:r>
              <a:rPr lang="zh-CN" altLang="en-US" sz="18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Chino 队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  <a:spcAft>
                <a:spcPts val="600"/>
              </a:spcAft>
              <a:buNone/>
            </a:pPr>
            <a:r>
              <a:rPr lang="zh-CN" altLang="en-US" sz="18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 年 10 月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26"/>
          <p:cNvSpPr/>
          <p:nvPr/>
        </p:nvSpPr>
        <p:spPr>
          <a:xfrm>
            <a:off x="2741964" y="2080000"/>
            <a:ext cx="620000" cy="620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/>
          </a:p>
        </p:txBody>
      </p:sp>
      <p:sp>
        <p:nvSpPr>
          <p:cNvPr id="7" name="圆角矩形 27"/>
          <p:cNvSpPr/>
          <p:nvPr/>
        </p:nvSpPr>
        <p:spPr>
          <a:xfrm>
            <a:off x="3597944" y="2920000"/>
            <a:ext cx="6855091" cy="62000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rtlCol="0" anchor="ctr" anchorCtr="0"/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Regular" panose="020B0503020204020204" charset="-122"/>
                <a:sym typeface="+mn-ea"/>
              </a:rPr>
              <a:t>应用核心功能</a:t>
            </a:r>
            <a:endParaRPr lang="en-US" altLang="zh-CN" sz="2400" b="1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 Regular" panose="020B0503020204020204" charset="-122"/>
              <a:sym typeface="+mn-ea"/>
            </a:endParaRPr>
          </a:p>
        </p:txBody>
      </p:sp>
      <p:sp>
        <p:nvSpPr>
          <p:cNvPr id="8" name="圆角矩形 28"/>
          <p:cNvSpPr/>
          <p:nvPr/>
        </p:nvSpPr>
        <p:spPr>
          <a:xfrm>
            <a:off x="2741964" y="2920000"/>
            <a:ext cx="620000" cy="620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/>
          </a:p>
        </p:txBody>
      </p:sp>
      <p:sp>
        <p:nvSpPr>
          <p:cNvPr id="9" name="圆角矩形 29"/>
          <p:cNvSpPr/>
          <p:nvPr/>
        </p:nvSpPr>
        <p:spPr>
          <a:xfrm>
            <a:off x="3597944" y="3760000"/>
            <a:ext cx="6855091" cy="62000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rtlCol="0" anchor="ctr" anchorCtr="0"/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Regular" panose="020B0503020204020204" charset="-122"/>
                <a:sym typeface="+mn-ea"/>
              </a:rPr>
              <a:t>创新性</a:t>
            </a:r>
            <a:endParaRPr lang="en-US" altLang="zh-CN" sz="2400" b="1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 Regular" panose="020B0503020204020204" charset="-122"/>
              <a:sym typeface="+mn-ea"/>
            </a:endParaRPr>
          </a:p>
        </p:txBody>
      </p:sp>
      <p:sp>
        <p:nvSpPr>
          <p:cNvPr id="10" name="圆角矩形 30"/>
          <p:cNvSpPr/>
          <p:nvPr/>
        </p:nvSpPr>
        <p:spPr>
          <a:xfrm>
            <a:off x="2741964" y="3760000"/>
            <a:ext cx="620000" cy="620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/>
          </a:p>
        </p:txBody>
      </p:sp>
      <p:sp>
        <p:nvSpPr>
          <p:cNvPr id="11" name="圆角矩形 44"/>
          <p:cNvSpPr/>
          <p:nvPr/>
        </p:nvSpPr>
        <p:spPr>
          <a:xfrm>
            <a:off x="3597944" y="2080000"/>
            <a:ext cx="6855091" cy="62000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rtlCol="0" anchor="ctr" anchorCtr="0"/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Regular" panose="020B0503020204020204" charset="-122"/>
                <a:sym typeface="+mn-ea"/>
              </a:rPr>
              <a:t>创作简介</a:t>
            </a:r>
            <a:endParaRPr lang="en-US" altLang="zh-CN" sz="2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Regular" panose="020B0503020204020204" charset="-122"/>
              <a:sym typeface="+mn-ea"/>
            </a:endParaRPr>
          </a:p>
        </p:txBody>
      </p:sp>
      <p:sp>
        <p:nvSpPr>
          <p:cNvPr id="12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13" name="圆角矩形 29"/>
          <p:cNvSpPr/>
          <p:nvPr/>
        </p:nvSpPr>
        <p:spPr>
          <a:xfrm>
            <a:off x="3597944" y="4600000"/>
            <a:ext cx="6855091" cy="62000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rtlCol="0" anchor="ctr" anchorCtr="0"/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 Regular" panose="020B0503020204020204" charset="-122"/>
                <a:sym typeface="+mn-ea"/>
              </a:rPr>
              <a:t>商业价值</a:t>
            </a:r>
            <a:endParaRPr lang="en-US" altLang="zh-CN" sz="2400" b="1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 Regular" panose="020B0503020204020204" charset="-122"/>
              <a:sym typeface="+mn-ea"/>
            </a:endParaRPr>
          </a:p>
        </p:txBody>
      </p:sp>
      <p:sp>
        <p:nvSpPr>
          <p:cNvPr id="14" name="圆角矩形 30"/>
          <p:cNvSpPr/>
          <p:nvPr/>
        </p:nvSpPr>
        <p:spPr>
          <a:xfrm>
            <a:off x="2741964" y="4600000"/>
            <a:ext cx="620000" cy="620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/>
          </a:p>
        </p:txBody>
      </p:sp>
      <p:sp>
        <p:nvSpPr>
          <p:cNvPr id="15" name="圆角矩形 45"/>
          <p:cNvSpPr/>
          <p:nvPr/>
        </p:nvSpPr>
        <p:spPr>
          <a:xfrm>
            <a:off x="2741964" y="5440000"/>
            <a:ext cx="620000" cy="620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/>
          </a:p>
        </p:txBody>
      </p:sp>
      <p:sp>
        <p:nvSpPr>
          <p:cNvPr id="16" name="圆角矩形 46"/>
          <p:cNvSpPr/>
          <p:nvPr/>
        </p:nvSpPr>
        <p:spPr>
          <a:xfrm>
            <a:off x="3597944" y="5440000"/>
            <a:ext cx="6855091" cy="62000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360000" rtlCol="0" anchor="ctr" anchorCtr="0"/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 Regular" panose="020B0503020204020204" charset="-122"/>
                <a:sym typeface="+mn-ea"/>
              </a:rPr>
              <a:t>Demo 演示</a:t>
            </a:r>
            <a:endParaRPr lang="en-US" altLang="zh-CN" sz="2400" b="1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 Regular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95815" y="200290"/>
            <a:ext cx="5966068" cy="446134"/>
          </a:xfrm>
        </p:spPr>
        <p:txBody>
          <a:bodyPr anchor="ctr"/>
          <a:lstStyle/>
          <a:p>
            <a:r>
              <a:rPr kumimoji="1" lang="zh-CN" altLang="en-US" dirty="0"/>
              <a:t>创作简介</a:t>
            </a:r>
            <a:endParaRPr kumimoji="1"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4" name="文本框 204"/>
          <p:cNvSpPr txBox="1"/>
          <p:nvPr/>
        </p:nvSpPr>
        <p:spPr>
          <a:xfrm>
            <a:off x="681316" y="1000000"/>
            <a:ext cx="705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None/>
            </a:pPr>
            <a:r>
              <a:rPr lang="zh-CN" altLang="en-US" sz="18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为什么做这款 APP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5" name="文本框 205"/>
          <p:cNvSpPr txBox="1"/>
          <p:nvPr/>
        </p:nvSpPr>
        <p:spPr>
          <a:xfrm>
            <a:off x="681316" y="1440000"/>
            <a:ext cx="705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buNone/>
            </a:pPr>
            <a:r>
              <a:rPr lang="zh-CN" altLang="en-US" sz="1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刷题时的灵感常出现在通勤、排队这些碎片时间，可手机上写不了代码，回到电脑思路又忘了；现有 AI 工具总是直接给出标准答案，用户失去了自己验证思路的机会。AlgoFlow 让你在手机随手记下思路和代码、在电脑上接着写，AI 只把你的想法整理清楚，不替你换成答案。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6" name="文本框 206"/>
          <p:cNvSpPr txBox="1"/>
          <p:nvPr/>
        </p:nvSpPr>
        <p:spPr>
          <a:xfrm>
            <a:off x="681316" y="2820000"/>
            <a:ext cx="705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None/>
            </a:pPr>
            <a:r>
              <a:rPr lang="zh-CN" altLang="en-US" sz="18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怎么用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7" name="形状 207"/>
          <p:cNvSpPr/>
          <p:nvPr/>
        </p:nvSpPr>
        <p:spPr>
          <a:xfrm>
            <a:off x="681316" y="3280000"/>
            <a:ext cx="1620000" cy="820000"/>
          </a:xfrm>
          <a:prstGeom prst="roundRect">
            <a:avLst>
              <a:gd name="adj" fmla="val 12000"/>
            </a:avLst>
          </a:prstGeom>
          <a:solidFill>
            <a:srgbClr val="F3FAFE"/>
          </a:solidFill>
          <a:ln w="9525">
            <a:solidFill>
              <a:srgbClr val="CDEBFC"/>
            </a:solidFill>
          </a:ln>
        </p:spPr>
        <p:txBody>
          <a:bodyPr wrap="square" lIns="110000" tIns="55000" rIns="110000" bIns="5500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  <a:buNone/>
            </a:pPr>
            <a:r>
              <a:rPr lang="zh-CN" altLang="en-US" sz="14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手机记思路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0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碎片时间随手写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8" name="形状 208"/>
          <p:cNvSpPr/>
          <p:nvPr/>
        </p:nvSpPr>
        <p:spPr>
          <a:xfrm>
            <a:off x="2491316" y="3280000"/>
            <a:ext cx="1620000" cy="820000"/>
          </a:xfrm>
          <a:prstGeom prst="roundRect">
            <a:avLst>
              <a:gd name="adj" fmla="val 12000"/>
            </a:avLst>
          </a:prstGeom>
          <a:solidFill>
            <a:srgbClr val="F3FAFE"/>
          </a:solidFill>
          <a:ln w="9525">
            <a:solidFill>
              <a:srgbClr val="CDEBFC"/>
            </a:solidFill>
          </a:ln>
        </p:spPr>
        <p:txBody>
          <a:bodyPr wrap="square" lIns="110000" tIns="55000" rIns="110000" bIns="5500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  <a:buNone/>
            </a:pPr>
            <a:r>
              <a:rPr lang="zh-CN" altLang="en-US" sz="14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电脑接着写*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0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浏览器打开同一草稿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9" name="形状 209"/>
          <p:cNvSpPr/>
          <p:nvPr/>
        </p:nvSpPr>
        <p:spPr>
          <a:xfrm>
            <a:off x="4301316" y="3280000"/>
            <a:ext cx="1620000" cy="820000"/>
          </a:xfrm>
          <a:prstGeom prst="roundRect">
            <a:avLst>
              <a:gd name="adj" fmla="val 12000"/>
            </a:avLst>
          </a:prstGeom>
          <a:solidFill>
            <a:srgbClr val="F3FAFE"/>
          </a:solidFill>
          <a:ln w="9525">
            <a:solidFill>
              <a:srgbClr val="CDEBFC"/>
            </a:solidFill>
          </a:ln>
        </p:spPr>
        <p:txBody>
          <a:bodyPr wrap="square" lIns="110000" tIns="55000" rIns="110000" bIns="5500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  <a:buNone/>
            </a:pPr>
            <a:r>
              <a:rPr lang="zh-CN" altLang="en-US" sz="14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AI 忠实整理*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0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只翻译，不给答案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0" name="形状 210"/>
          <p:cNvSpPr/>
          <p:nvPr/>
        </p:nvSpPr>
        <p:spPr>
          <a:xfrm>
            <a:off x="6111316" y="3280000"/>
            <a:ext cx="1620000" cy="820000"/>
          </a:xfrm>
          <a:prstGeom prst="roundRect">
            <a:avLst>
              <a:gd name="adj" fmla="val 12000"/>
            </a:avLst>
          </a:prstGeom>
          <a:solidFill>
            <a:srgbClr val="F3FAFE"/>
          </a:solidFill>
          <a:ln w="9525">
            <a:solidFill>
              <a:srgbClr val="CDEBFC"/>
            </a:solidFill>
          </a:ln>
        </p:spPr>
        <p:txBody>
          <a:bodyPr wrap="square" lIns="110000" tIns="55000" rIns="110000" bIns="5500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  <a:buNone/>
            </a:pPr>
            <a:r>
              <a:rPr lang="zh-CN" altLang="en-US" sz="14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 复写再对比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10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自己写完再比对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1" name="文本框 211"/>
          <p:cNvSpPr txBox="1"/>
          <p:nvPr/>
        </p:nvSpPr>
        <p:spPr>
          <a:xfrm>
            <a:off x="681316" y="4330000"/>
            <a:ext cx="705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None/>
            </a:pPr>
            <a:r>
              <a:rPr lang="zh-CN" altLang="en-US" sz="18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应用一句话亮点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2" name="形状 212"/>
          <p:cNvSpPr/>
          <p:nvPr/>
        </p:nvSpPr>
        <p:spPr>
          <a:xfrm>
            <a:off x="681316" y="4790000"/>
            <a:ext cx="7050000" cy="700000"/>
          </a:xfrm>
          <a:prstGeom prst="roundRect">
            <a:avLst>
              <a:gd name="adj" fmla="val 14000"/>
            </a:avLst>
          </a:prstGeom>
          <a:solidFill>
            <a:srgbClr val="F3FAFE"/>
          </a:solidFill>
          <a:ln w="9525">
            <a:solidFill>
              <a:srgbClr val="CDEBFC"/>
            </a:solidFill>
          </a:ln>
        </p:spPr>
        <p:txBody>
          <a:bodyPr wrap="square" lIns="220000" tIns="110000" rIns="220000" bIns="110000" rtlCol="0" anchor="ctr">
            <a:no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手机记思路，电脑接着写；AI 帮你理清想法。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3" name="文本框 213"/>
          <p:cNvSpPr txBox="1"/>
          <p:nvPr/>
        </p:nvSpPr>
        <p:spPr>
          <a:xfrm>
            <a:off x="681316" y="5640000"/>
            <a:ext cx="705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  <a:buNone/>
            </a:pPr>
            <a:r>
              <a:rPr lang="zh-CN" altLang="en-US" sz="10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 双端同步与 AI 在演示视频（Debug 包）中展示；应用市场版本为不联网单机版。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4" name="图片 2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375" y="1000000"/>
            <a:ext cx="2840625" cy="5050000"/>
          </a:xfrm>
          <a:prstGeom prst="roundRect">
            <a:avLst>
              <a:gd name="adj" fmla="val 5000"/>
            </a:avLst>
          </a:prstGeom>
          <a:ln w="9525">
            <a:solidFill>
              <a:srgbClr val="D9D9D9"/>
            </a:solidFill>
          </a:ln>
        </p:spPr>
      </p:pic>
      <p:sp>
        <p:nvSpPr>
          <p:cNvPr id="215" name="文本框 215"/>
          <p:cNvSpPr txBox="1"/>
          <p:nvPr/>
        </p:nvSpPr>
        <p:spPr>
          <a:xfrm>
            <a:off x="8659375" y="6090000"/>
            <a:ext cx="2840625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buNone/>
            </a:pPr>
            <a:r>
              <a:rPr lang="zh-CN" altLang="en-US" sz="10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应用市场版首页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195815" y="200290"/>
            <a:ext cx="5966068" cy="446134"/>
          </a:xfrm>
        </p:spPr>
        <p:txBody>
          <a:bodyPr anchor="ctr"/>
          <a:lstStyle/>
          <a:p>
            <a:r>
              <a:rPr kumimoji="1"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应用核心功能</a:t>
            </a:r>
            <a:endParaRPr/>
          </a:p>
        </p:txBody>
      </p:sp>
      <p:sp>
        <p:nvSpPr>
          <p:cNvPr id="216" name="文本框 216"/>
          <p:cNvSpPr txBox="1"/>
          <p:nvPr/>
        </p:nvSpPr>
        <p:spPr>
          <a:xfrm>
            <a:off x="450000" y="1000000"/>
            <a:ext cx="3800000" cy="5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indent="-228600">
              <a:lnSpc>
                <a:spcPct val="120000"/>
              </a:lnSpc>
              <a:spcAft>
                <a:spcPts val="900"/>
              </a:spcAft>
              <a:buClr>
                <a:srgbClr val="08A8F6"/>
              </a:buClr>
              <a:buFont typeface="Arial"/>
              <a:buChar char="•"/>
            </a:pPr>
            <a:r>
              <a:rPr lang="zh-CN" altLang="en-US" sz="1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手机就是代码编辑器：</a:t>
            </a:r>
            <a:r>
              <a:rPr lang="zh-CN" altLang="en-US" sz="1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首屏即可编辑的 main.cpp，行号、当前行高亮、等宽字体，碎片时间也能读改代码。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Clr>
                <a:srgbClr val="08A8F6"/>
              </a:buClr>
              <a:buFont typeface="Arial"/>
              <a:buChar char="•"/>
            </a:pPr>
            <a:r>
              <a:rPr lang="zh-CN" altLang="en-US" sz="1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手机电脑编辑同一草稿*：</a:t>
            </a:r>
            <a:r>
              <a:rPr lang="zh-CN" altLang="en-US" sz="1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扫码或配对码连接后双向同步；版本冲突保留两份副本由你选择，不静默覆盖。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Clr>
                <a:srgbClr val="08A8F6"/>
              </a:buClr>
              <a:buFont typeface="Arial"/>
              <a:buChar char="•"/>
            </a:pPr>
            <a:r>
              <a:rPr lang="zh-CN" altLang="en-US" sz="1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思路按句拆分：</a:t>
            </a:r>
            <a:r>
              <a:rPr lang="zh-CN" altLang="en-US" sz="1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每句思路有稳定编号，AI 整理出的每一步都能追溯到你写的那句话。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Clr>
                <a:srgbClr val="08A8F6"/>
              </a:buClr>
              <a:buFont typeface="Arial"/>
              <a:buChar char="•"/>
            </a:pPr>
            <a:r>
              <a:rPr lang="zh-CN" altLang="en-US" sz="1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忠实转换*：</a:t>
            </a:r>
            <a:r>
              <a:rPr lang="zh-CN" altLang="en-US" sz="1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按原思路生成伪代码或 C++ 片段，指出缺失与风险，不偷偷补成正确解法。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Clr>
                <a:srgbClr val="08A8F6"/>
              </a:buClr>
              <a:buFont typeface="Arial"/>
              <a:buChar char="•"/>
            </a:pPr>
            <a:r>
              <a:rPr lang="zh-CN" altLang="en-US" sz="1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隐藏后复写对比*：</a:t>
            </a:r>
            <a:r>
              <a:rPr lang="zh-CN" altLang="en-US" sz="1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先隐藏 AI 结果自己重写，再逐步骤对比遗漏与新增，保留学习过程。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20000"/>
              </a:lnSpc>
              <a:spcAft>
                <a:spcPts val="900"/>
              </a:spcAft>
              <a:buClr>
                <a:srgbClr val="08A8F6"/>
              </a:buClr>
              <a:buFont typeface="Arial"/>
              <a:buChar char="•"/>
            </a:pPr>
            <a:r>
              <a:rPr lang="zh-CN" altLang="en-US" sz="1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桌面服务卡片：</a:t>
            </a:r>
            <a:r>
              <a:rPr lang="zh-CN" altLang="en-US" sz="1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不打开应用即可查看最近草稿，一键新建思路、点击直达草稿。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7" name="图片 2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000" y="1000000"/>
            <a:ext cx="1717500" cy="3053333"/>
          </a:xfrm>
          <a:prstGeom prst="roundRect">
            <a:avLst>
              <a:gd name="adj" fmla="val 4000"/>
            </a:avLst>
          </a:prstGeom>
          <a:ln w="9525">
            <a:solidFill>
              <a:srgbClr val="D9D9D9"/>
            </a:solidFill>
          </a:ln>
        </p:spPr>
      </p:pic>
      <p:sp>
        <p:nvSpPr>
          <p:cNvPr id="218" name="文本框 218"/>
          <p:cNvSpPr txBox="1"/>
          <p:nvPr/>
        </p:nvSpPr>
        <p:spPr>
          <a:xfrm>
            <a:off x="4450000" y="4103333"/>
            <a:ext cx="17175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buNone/>
            </a:pPr>
            <a:r>
              <a:rPr lang="zh-CN" altLang="en-US" sz="11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main.cpp 编辑器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9" name="图片 2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500" y="1000000"/>
            <a:ext cx="1717500" cy="3053333"/>
          </a:xfrm>
          <a:prstGeom prst="roundRect">
            <a:avLst>
              <a:gd name="adj" fmla="val 4000"/>
            </a:avLst>
          </a:prstGeom>
          <a:ln w="9525">
            <a:solidFill>
              <a:srgbClr val="D9D9D9"/>
            </a:solidFill>
          </a:ln>
        </p:spPr>
      </p:pic>
      <p:sp>
        <p:nvSpPr>
          <p:cNvPr id="220" name="文本框 220"/>
          <p:cNvSpPr txBox="1"/>
          <p:nvPr/>
        </p:nvSpPr>
        <p:spPr>
          <a:xfrm>
            <a:off x="6277500" y="4103333"/>
            <a:ext cx="17175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buNone/>
            </a:pPr>
            <a:r>
              <a:rPr lang="zh-CN" altLang="en-US" sz="11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思路片段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21" name="图片 2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5000" y="1000000"/>
            <a:ext cx="1717500" cy="3053333"/>
          </a:xfrm>
          <a:prstGeom prst="roundRect">
            <a:avLst>
              <a:gd name="adj" fmla="val 4000"/>
            </a:avLst>
          </a:prstGeom>
          <a:ln w="9525">
            <a:solidFill>
              <a:srgbClr val="D9D9D9"/>
            </a:solidFill>
          </a:ln>
        </p:spPr>
      </p:pic>
      <p:sp>
        <p:nvSpPr>
          <p:cNvPr id="222" name="文本框 222"/>
          <p:cNvSpPr txBox="1"/>
          <p:nvPr/>
        </p:nvSpPr>
        <p:spPr>
          <a:xfrm>
            <a:off x="8105000" y="4103333"/>
            <a:ext cx="17175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buNone/>
            </a:pPr>
            <a:r>
              <a:rPr lang="zh-CN" altLang="en-US" sz="11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独立复写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23" name="图片 2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2500" y="1000000"/>
            <a:ext cx="1717500" cy="3053333"/>
          </a:xfrm>
          <a:prstGeom prst="roundRect">
            <a:avLst>
              <a:gd name="adj" fmla="val 4000"/>
            </a:avLst>
          </a:prstGeom>
          <a:ln w="9525">
            <a:solidFill>
              <a:srgbClr val="D9D9D9"/>
            </a:solidFill>
          </a:ln>
        </p:spPr>
      </p:pic>
      <p:sp>
        <p:nvSpPr>
          <p:cNvPr id="224" name="文本框 224"/>
          <p:cNvSpPr txBox="1"/>
          <p:nvPr/>
        </p:nvSpPr>
        <p:spPr>
          <a:xfrm>
            <a:off x="9932500" y="4103333"/>
            <a:ext cx="17175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buNone/>
            </a:pPr>
            <a:r>
              <a:rPr lang="zh-CN" altLang="en-US" sz="11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服务卡片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5" name="形状 225"/>
          <p:cNvSpPr/>
          <p:nvPr/>
        </p:nvSpPr>
        <p:spPr>
          <a:xfrm>
            <a:off x="4450000" y="4503333"/>
            <a:ext cx="7200000" cy="105000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>
            <a:noFill/>
          </a:ln>
        </p:spPr>
        <p:txBody>
          <a:bodyPr wrap="square" lIns="160000" tIns="80000" rIns="160000" bIns="80000" rtlCol="0" anchor="ctr">
            <a:no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buNone/>
            </a:pPr>
            <a:r>
              <a:rPr lang="zh-CN" altLang="en-US" sz="10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截图为应用市场版（不联网单机版）在 HarmonyOS 模拟器上的本地验证结果。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Aft>
                <a:spcPts val="0"/>
              </a:spcAft>
              <a:buNone/>
            </a:pPr>
            <a:r>
              <a:rPr lang="zh-CN" altLang="en-US" sz="10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 标注功能只在 Debug 包中启用（见演示视频）：AI 经开发者电脑上的本机 AI Gateway 调用真实大模型，同步为局域网 HTTP，均需自行提供端点，不含云端服务。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27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创新性</a:t>
            </a:r>
            <a:endParaRPr/>
          </a:p>
        </p:txBody>
      </p:sp>
      <p:sp>
        <p:nvSpPr>
          <p:cNvPr id="226" name="形状 226"/>
          <p:cNvSpPr/>
          <p:nvPr/>
        </p:nvSpPr>
        <p:spPr>
          <a:xfrm>
            <a:off x="600634" y="1000000"/>
            <a:ext cx="5350000" cy="4600000"/>
          </a:xfrm>
          <a:prstGeom prst="roundRect">
            <a:avLst>
              <a:gd name="adj" fmla="val 4000"/>
            </a:avLst>
          </a:prstGeom>
          <a:solidFill>
            <a:srgbClr val="F3FAFE"/>
          </a:solidFill>
          <a:ln w="9525">
            <a:solidFill>
              <a:srgbClr val="CDEBFC"/>
            </a:solidFill>
          </a:ln>
        </p:spPr>
        <p:txBody>
          <a:bodyPr wrap="square" lIns="280000" tIns="240000" rIns="280000" bIns="140000" rtlCol="0" anchor="t">
            <a:no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buNone/>
            </a:pPr>
            <a:r>
              <a:rPr lang="zh-CN" altLang="en-US" sz="20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体验的创新与提升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20000"/>
              </a:lnSpc>
              <a:spcAft>
                <a:spcPts val="1100"/>
              </a:spcAft>
              <a:buClr>
                <a:srgbClr val="08A8F6"/>
              </a:buClr>
              <a:buFont typeface="Arial"/>
              <a:buChar char="•"/>
            </a:pPr>
            <a:r>
              <a:rPr lang="zh-CN" altLang="en-US" sz="16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思路优先，不给答案：</a:t>
            </a:r>
            <a:r>
              <a:rPr lang="zh-CN" alt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默认只做忠实转换，即使思路有误也照实整理并标出风险；提示与完整解题是独立模式，必须由你主动选择。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20000"/>
              </a:lnSpc>
              <a:spcAft>
                <a:spcPts val="1100"/>
              </a:spcAft>
              <a:buClr>
                <a:srgbClr val="08A8F6"/>
              </a:buClr>
              <a:buFont typeface="Arial"/>
              <a:buChar char="•"/>
            </a:pPr>
            <a:r>
              <a:rPr lang="zh-CN" altLang="en-US" sz="16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先自己写再对比：</a:t>
            </a:r>
            <a:r>
              <a:rPr lang="zh-CN" alt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结果可以隐藏，独立复写后逐步骤比对，保留自主思考的过程。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20000"/>
              </a:lnSpc>
              <a:spcAft>
                <a:spcPts val="1100"/>
              </a:spcAft>
              <a:buClr>
                <a:srgbClr val="08A8F6"/>
              </a:buClr>
              <a:buFont typeface="Arial"/>
              <a:buChar char="•"/>
            </a:pPr>
            <a:r>
              <a:rPr lang="zh-CN" altLang="en-US" sz="16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跨端接力*：</a:t>
            </a:r>
            <a:r>
              <a:rPr lang="zh-CN" alt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手机端是原生 ArkTS 应用，电脑端是浏览器工作台，两端共用同一套数据契约和同步协议。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20000"/>
              </a:lnSpc>
              <a:spcAft>
                <a:spcPts val="0"/>
              </a:spcAft>
              <a:buClr>
                <a:srgbClr val="08A8F6"/>
              </a:buClr>
              <a:buFont typeface="Arial"/>
              <a:buChar char="•"/>
            </a:pPr>
            <a:r>
              <a:rPr lang="zh-CN" altLang="en-US" sz="16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离线优先：</a:t>
            </a:r>
            <a:r>
              <a:rPr lang="zh-CN" alt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草稿与待同步操作存于本地数据库，断网照常写，联网后再同步，冲突不丢数据。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7" name="形状 227"/>
          <p:cNvSpPr/>
          <p:nvPr/>
        </p:nvSpPr>
        <p:spPr>
          <a:xfrm>
            <a:off x="6150634" y="1000000"/>
            <a:ext cx="5350000" cy="4600000"/>
          </a:xfrm>
          <a:prstGeom prst="roundRect">
            <a:avLst>
              <a:gd name="adj" fmla="val 4000"/>
            </a:avLst>
          </a:prstGeom>
          <a:solidFill>
            <a:srgbClr val="F3FAFE"/>
          </a:solidFill>
          <a:ln w="9525">
            <a:solidFill>
              <a:srgbClr val="CDEBFC"/>
            </a:solidFill>
          </a:ln>
        </p:spPr>
        <p:txBody>
          <a:bodyPr wrap="square" lIns="280000" tIns="240000" rIns="280000" bIns="140000" rtlCol="0" anchor="t">
            <a:no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buNone/>
            </a:pPr>
            <a:r>
              <a:rPr lang="zh-CN" altLang="en-US" sz="20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接入的鸿蒙特性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20000"/>
              </a:lnSpc>
              <a:spcAft>
                <a:spcPts val="1100"/>
              </a:spcAft>
              <a:buClr>
                <a:srgbClr val="08A8F6"/>
              </a:buClr>
              <a:buFont typeface="Arial"/>
              <a:buChar char="•"/>
            </a:pPr>
            <a:r>
              <a:rPr lang="zh-CN" altLang="en-US" sz="16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服务卡片：</a:t>
            </a:r>
            <a:r>
              <a:rPr lang="zh-CN" alt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桌面卡片显示最近草稿标题与状态，一键新建思路、点击直达对应草稿；卡片只读本地快照，不展示代码正文。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20000"/>
              </a:lnSpc>
              <a:spcAft>
                <a:spcPts val="1100"/>
              </a:spcAft>
              <a:buClr>
                <a:srgbClr val="08A8F6"/>
              </a:buClr>
              <a:buFont typeface="Arial"/>
              <a:buChar char="•"/>
            </a:pPr>
            <a:r>
              <a:rPr lang="zh-CN" altLang="en-US" sz="16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ArkTS + ArkUI 原生开发：</a:t>
            </a:r>
            <a:r>
              <a:rPr lang="zh-CN" alt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模型；关系型数据库（RDB）保存草稿与离线队列，带显式版本迁移。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20000"/>
              </a:lnSpc>
              <a:spcAft>
                <a:spcPts val="1100"/>
              </a:spcAft>
              <a:buClr>
                <a:srgbClr val="08A8F6"/>
              </a:buClr>
              <a:buFont typeface="Arial"/>
              <a:buChar char="•"/>
            </a:pPr>
            <a:r>
              <a:rPr lang="zh-CN" altLang="en-US" sz="16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Scan Kit 扫码配对*：</a:t>
            </a:r>
            <a:r>
              <a:rPr lang="zh-CN" alt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 HarmonyOS 系统扫码界面连接电脑，应用无需申请相机权限；不支持的设备可手输配对码。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20000"/>
              </a:lnSpc>
              <a:spcAft>
                <a:spcPts val="0"/>
              </a:spcAft>
              <a:buClr>
                <a:srgbClr val="08A8F6"/>
              </a:buClr>
              <a:buFont typeface="Arial"/>
              <a:buChar char="•"/>
            </a:pPr>
            <a:r>
              <a:rPr lang="zh-CN" altLang="en-US" sz="16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ArkGuard 混淆：</a:t>
            </a:r>
            <a:r>
              <a:rPr lang="zh-CN" alt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Release 包启用代码混淆。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8" name="文本框 228"/>
          <p:cNvSpPr txBox="1"/>
          <p:nvPr/>
        </p:nvSpPr>
        <p:spPr>
          <a:xfrm>
            <a:off x="600634" y="5660000"/>
            <a:ext cx="109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  <a:buNone/>
            </a:pPr>
            <a:r>
              <a:rPr lang="zh-CN" altLang="en-US" sz="10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 同步相关能力只在 Debug 演示包中启用；应用市场版本为不联网单机版。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32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商业价值</a:t>
            </a:r>
            <a:endParaRPr/>
          </a:p>
        </p:txBody>
      </p:sp>
      <p:sp>
        <p:nvSpPr>
          <p:cNvPr id="229" name="形状 229"/>
          <p:cNvSpPr/>
          <p:nvPr/>
        </p:nvSpPr>
        <p:spPr>
          <a:xfrm>
            <a:off x="600634" y="1000000"/>
            <a:ext cx="3500000" cy="3500000"/>
          </a:xfrm>
          <a:prstGeom prst="roundRect">
            <a:avLst>
              <a:gd name="adj" fmla="val 5000"/>
            </a:avLst>
          </a:prstGeom>
          <a:solidFill>
            <a:srgbClr val="F3FAFE"/>
          </a:solidFill>
          <a:ln w="9525">
            <a:solidFill>
              <a:srgbClr val="CDEBFC"/>
            </a:solidFill>
          </a:ln>
        </p:spPr>
        <p:txBody>
          <a:bodyPr wrap="square" lIns="260000" tIns="300000" rIns="260000" bIns="130000" rtlCol="0" anchor="t">
            <a:no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buNone/>
            </a:pPr>
            <a:r>
              <a:rPr lang="zh-CN" altLang="en-US" sz="20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用户范围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20000"/>
              </a:lnSpc>
              <a:spcAft>
                <a:spcPts val="1100"/>
              </a:spcAft>
              <a:buClr>
                <a:srgbClr val="08A8F6"/>
              </a:buClr>
              <a:buFont typeface="Arial"/>
              <a:buChar char="•"/>
            </a:pPr>
            <a:r>
              <a:rPr lang="zh-CN" alt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算法竞赛选手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20000"/>
              </a:lnSpc>
              <a:spcAft>
                <a:spcPts val="1100"/>
              </a:spcAft>
              <a:buClr>
                <a:srgbClr val="08A8F6"/>
              </a:buClr>
              <a:buFont typeface="Arial"/>
              <a:buChar char="•"/>
            </a:pPr>
            <a:r>
              <a:rPr lang="zh-CN" alt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数据结构与算法课程学生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20000"/>
              </a:lnSpc>
              <a:spcAft>
                <a:spcPts val="1100"/>
              </a:spcAft>
              <a:buClr>
                <a:srgbClr val="08A8F6"/>
              </a:buClr>
              <a:buFont typeface="Arial"/>
              <a:buChar char="•"/>
            </a:pPr>
            <a:r>
              <a:rPr lang="zh-CN" alt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准备技术面试的开发者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0" name="形状 230"/>
          <p:cNvSpPr/>
          <p:nvPr/>
        </p:nvSpPr>
        <p:spPr>
          <a:xfrm>
            <a:off x="840634" y="1000000"/>
            <a:ext cx="700000" cy="60000"/>
          </a:xfrm>
          <a:prstGeom prst="rect">
            <a:avLst/>
          </a:prstGeom>
          <a:solidFill>
            <a:srgbClr val="08A8F6"/>
          </a:solidFill>
          <a:ln>
            <a:noFill/>
          </a:ln>
        </p:spPr>
        <p:txBody>
          <a:bodyPr wrap="square" lIns="180000" tIns="90000" rIns="180000" bIns="90000" rtlCol="0" anchor="t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None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1" name="形状 231"/>
          <p:cNvSpPr/>
          <p:nvPr/>
        </p:nvSpPr>
        <p:spPr>
          <a:xfrm>
            <a:off x="4300634" y="1000000"/>
            <a:ext cx="3500000" cy="3500000"/>
          </a:xfrm>
          <a:prstGeom prst="roundRect">
            <a:avLst>
              <a:gd name="adj" fmla="val 5000"/>
            </a:avLst>
          </a:prstGeom>
          <a:solidFill>
            <a:srgbClr val="F3FAFE"/>
          </a:solidFill>
          <a:ln w="9525">
            <a:solidFill>
              <a:srgbClr val="CDEBFC"/>
            </a:solidFill>
          </a:ln>
        </p:spPr>
        <p:txBody>
          <a:bodyPr wrap="square" lIns="260000" tIns="300000" rIns="260000" bIns="130000" rtlCol="0" anchor="t">
            <a:no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buNone/>
            </a:pPr>
            <a:r>
              <a:rPr lang="zh-CN" altLang="en-US" sz="20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用户反馈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20000"/>
              </a:lnSpc>
              <a:spcAft>
                <a:spcPts val="1100"/>
              </a:spcAft>
              <a:buClr>
                <a:srgbClr val="08A8F6"/>
              </a:buClr>
              <a:buFont typeface="Arial"/>
              <a:buChar char="•"/>
            </a:pPr>
            <a:r>
              <a:rPr lang="zh-CN" alt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上架后通过应用市场评论收集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20000"/>
              </a:lnSpc>
              <a:spcAft>
                <a:spcPts val="1100"/>
              </a:spcAft>
              <a:buClr>
                <a:srgbClr val="08A8F6"/>
              </a:buClr>
              <a:buFont typeface="Arial"/>
              <a:buChar char="•"/>
            </a:pPr>
            <a:r>
              <a:rPr lang="zh-CN" alt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结合社团试用收集反馈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2" name="形状 232"/>
          <p:cNvSpPr/>
          <p:nvPr/>
        </p:nvSpPr>
        <p:spPr>
          <a:xfrm>
            <a:off x="4540634" y="1000000"/>
            <a:ext cx="700000" cy="60000"/>
          </a:xfrm>
          <a:prstGeom prst="rect">
            <a:avLst/>
          </a:prstGeom>
          <a:solidFill>
            <a:srgbClr val="08A8F6"/>
          </a:solidFill>
          <a:ln>
            <a:noFill/>
          </a:ln>
        </p:spPr>
        <p:txBody>
          <a:bodyPr wrap="square" lIns="180000" tIns="90000" rIns="180000" bIns="90000" rtlCol="0" anchor="t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None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3" name="形状 233"/>
          <p:cNvSpPr/>
          <p:nvPr/>
        </p:nvSpPr>
        <p:spPr>
          <a:xfrm>
            <a:off x="8000634" y="1000000"/>
            <a:ext cx="3500000" cy="3500000"/>
          </a:xfrm>
          <a:prstGeom prst="roundRect">
            <a:avLst>
              <a:gd name="adj" fmla="val 5000"/>
            </a:avLst>
          </a:prstGeom>
          <a:solidFill>
            <a:srgbClr val="F3FAFE"/>
          </a:solidFill>
          <a:ln w="9525">
            <a:solidFill>
              <a:srgbClr val="CDEBFC"/>
            </a:solidFill>
          </a:ln>
        </p:spPr>
        <p:txBody>
          <a:bodyPr wrap="square" lIns="260000" tIns="300000" rIns="260000" bIns="130000" rtlCol="0" anchor="t">
            <a:no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  <a:buNone/>
            </a:pPr>
            <a:r>
              <a:rPr lang="zh-CN" altLang="en-US" sz="20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商业潜力</a:t>
            </a:r>
            <a:r>
              <a:rPr lang="zh-CN" altLang="en-US" sz="13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（规划中，尚未实施）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20000"/>
              </a:lnSpc>
              <a:spcAft>
                <a:spcPts val="1100"/>
              </a:spcAft>
              <a:buClr>
                <a:srgbClr val="08A8F6"/>
              </a:buClr>
              <a:buFont typeface="Arial"/>
              <a:buChar char="•"/>
            </a:pPr>
            <a:r>
              <a:rPr lang="zh-CN" alt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基础的记录、编辑与同步功能免费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20000"/>
              </a:lnSpc>
              <a:spcAft>
                <a:spcPts val="1100"/>
              </a:spcAft>
              <a:buClr>
                <a:srgbClr val="08A8F6"/>
              </a:buClr>
              <a:buFont typeface="Arial"/>
              <a:buChar char="•"/>
            </a:pPr>
            <a:r>
              <a:rPr lang="zh-CN" alt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后续可提供托管同步与 AI 服务订阅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20000"/>
              </a:lnSpc>
              <a:spcAft>
                <a:spcPts val="1100"/>
              </a:spcAft>
              <a:buClr>
                <a:srgbClr val="08A8F6"/>
              </a:buClr>
              <a:buFont typeface="Arial"/>
              <a:buChar char="•"/>
            </a:pPr>
            <a:r>
              <a:rPr lang="zh-CN" alt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面向高校课程与竞赛社团提供班级工作区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4" name="形状 234"/>
          <p:cNvSpPr/>
          <p:nvPr/>
        </p:nvSpPr>
        <p:spPr>
          <a:xfrm>
            <a:off x="8240634" y="1000000"/>
            <a:ext cx="700000" cy="60000"/>
          </a:xfrm>
          <a:prstGeom prst="rect">
            <a:avLst/>
          </a:prstGeom>
          <a:solidFill>
            <a:srgbClr val="08A8F6"/>
          </a:solidFill>
          <a:ln>
            <a:noFill/>
          </a:ln>
        </p:spPr>
        <p:txBody>
          <a:bodyPr wrap="square" lIns="180000" tIns="90000" rIns="180000" bIns="90000" rtlCol="0" anchor="t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None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5" name="形状 235"/>
          <p:cNvSpPr/>
          <p:nvPr/>
        </p:nvSpPr>
        <p:spPr>
          <a:xfrm>
            <a:off x="600634" y="4800000"/>
            <a:ext cx="10900000" cy="800000"/>
          </a:xfrm>
          <a:prstGeom prst="roundRect">
            <a:avLst>
              <a:gd name="adj" fmla="val 12000"/>
            </a:avLst>
          </a:prstGeom>
          <a:solidFill>
            <a:srgbClr val="EAF6FE"/>
          </a:solidFill>
          <a:ln>
            <a:noFill/>
          </a:ln>
        </p:spPr>
        <p:txBody>
          <a:bodyPr wrap="square" lIns="300000" tIns="150000" rIns="300000" bIns="150000" rtlCol="0" anchor="ctr">
            <a:no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buNone/>
            </a:pPr>
            <a:r>
              <a:rPr lang="zh-CN" altLang="en-US" sz="16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核心价值：</a:t>
            </a:r>
            <a:r>
              <a:rPr lang="zh-CN" alt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把碎片时间里的算法思路留住，让 AI 帮学习者理清思路，而不是替他们写答案。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36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Demo</a:t>
            </a:r>
            <a:endParaRPr lang="zh-CN" altLang="en-US" dirty="0"/>
          </a:p>
        </p:txBody>
      </p:sp>
      <p:pic>
        <p:nvPicPr>
          <p:cNvPr id="236" name="图片 2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634" y="1000000"/>
            <a:ext cx="5600000" cy="3150000"/>
          </a:xfrm>
          <a:prstGeom prst="roundRect">
            <a:avLst>
              <a:gd name="adj" fmla="val 3000"/>
            </a:avLst>
          </a:prstGeom>
          <a:ln w="9525">
            <a:solidFill>
              <a:srgbClr val="D9D9D9"/>
            </a:solidFill>
          </a:ln>
        </p:spPr>
      </p:pic>
      <p:sp>
        <p:nvSpPr>
          <p:cNvPr id="237" name="形状 237"/>
          <p:cNvSpPr/>
          <p:nvPr/>
        </p:nvSpPr>
        <p:spPr>
          <a:xfrm>
            <a:off x="4420634" y="2195000"/>
            <a:ext cx="760000" cy="760000"/>
          </a:xfrm>
          <a:prstGeom prst="ellipse">
            <a:avLst/>
          </a:prstGeom>
          <a:solidFill>
            <a:srgbClr val="000000">
              <a:alpha val="45000"/>
            </a:srgbClr>
          </a:solidFill>
          <a:ln>
            <a:noFill/>
          </a:ln>
        </p:spPr>
        <p:txBody>
          <a:bodyPr wrap="square" lIns="180000" tIns="90000" rIns="180000" bIns="90000" rtlCol="0" anchor="t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None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8" name="形状 238"/>
          <p:cNvSpPr/>
          <p:nvPr/>
        </p:nvSpPr>
        <p:spPr>
          <a:xfrm rot="5400000">
            <a:off x="4660634" y="2375000"/>
            <a:ext cx="400000" cy="400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txBody>
          <a:bodyPr wrap="square" lIns="180000" tIns="90000" rIns="180000" bIns="90000" rtlCol="0" anchor="t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None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9" name="文本框 239"/>
          <p:cNvSpPr txBox="1"/>
          <p:nvPr/>
        </p:nvSpPr>
        <p:spPr>
          <a:xfrm>
            <a:off x="600634" y="4300000"/>
            <a:ext cx="56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buNone/>
            </a:pPr>
            <a:r>
              <a:rPr lang="zh-CN" altLang="en-US" sz="15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演示视频：</a:t>
            </a:r>
            <a:r>
              <a:rPr lang="zh-CN" altLang="en-US" sz="15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随本 PPT 一并提交（约 2 分 20 秒，1080p）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Aft>
                <a:spcPts val="0"/>
              </a:spcAft>
              <a:buNone/>
            </a:pPr>
            <a:r>
              <a:rPr lang="zh-CN" altLang="en-US" sz="12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画面为真实操作录屏（手机端为模拟器）；AI 结果由真实大模型生成。</a:t>
            </a:r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0" name="文本框 240"/>
          <p:cNvSpPr txBox="1"/>
          <p:nvPr/>
        </p:nvSpPr>
        <p:spPr>
          <a:xfrm>
            <a:off x="6550000" y="1000000"/>
            <a:ext cx="50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None/>
            </a:pPr>
            <a:r>
              <a:rPr lang="zh-CN" altLang="en-US" sz="18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演示主线</a:t>
            </a:r>
            <a:r>
              <a:rPr lang="zh-CN" altLang="en-US" sz="140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（约 2 分 20 秒）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1" name="文本框 241"/>
          <p:cNvSpPr txBox="1"/>
          <p:nvPr/>
        </p:nvSpPr>
        <p:spPr>
          <a:xfrm>
            <a:off x="6550000" y="1520000"/>
            <a:ext cx="700000" cy="3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buNone/>
            </a:pPr>
            <a:r>
              <a:rPr lang="zh-CN" altLang="en-US" sz="14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准备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Aft>
                <a:spcPts val="500"/>
              </a:spcAft>
              <a:buNone/>
            </a:pPr>
            <a:r>
              <a:rPr lang="zh-CN" altLang="en-US" sz="14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Aft>
                <a:spcPts val="500"/>
              </a:spcAft>
              <a:buNone/>
            </a:pPr>
            <a:r>
              <a:rPr lang="zh-CN" altLang="en-US" sz="14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Aft>
                <a:spcPts val="500"/>
              </a:spcAft>
              <a:buNone/>
            </a:pPr>
            <a:r>
              <a:rPr lang="zh-CN" altLang="en-US" sz="14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Aft>
                <a:spcPts val="500"/>
              </a:spcAft>
              <a:buNone/>
            </a:pPr>
            <a:r>
              <a:rPr lang="zh-CN" altLang="en-US" sz="14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Aft>
                <a:spcPts val="500"/>
              </a:spcAft>
              <a:buNone/>
            </a:pPr>
            <a:r>
              <a:rPr lang="zh-CN" altLang="en-US" sz="14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Aft>
                <a:spcPts val="500"/>
              </a:spcAft>
              <a:buNone/>
            </a:pPr>
            <a:r>
              <a:rPr lang="zh-CN" altLang="en-US" sz="14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Aft>
                <a:spcPts val="500"/>
              </a:spcAft>
              <a:buNone/>
            </a:pPr>
            <a:r>
              <a:rPr lang="zh-CN" altLang="en-US" sz="14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Aft>
                <a:spcPts val="500"/>
              </a:spcAft>
              <a:buNone/>
            </a:pPr>
            <a:r>
              <a:rPr lang="zh-CN" altLang="en-US" sz="14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08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Aft>
                <a:spcPts val="500"/>
              </a:spcAft>
              <a:buNone/>
            </a:pPr>
            <a:r>
              <a:rPr lang="zh-CN" altLang="en-US" sz="1400" b="1" dirty="0">
                <a:solidFill>
                  <a:srgbClr val="08A8F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09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2" name="文本框 242"/>
          <p:cNvSpPr txBox="1"/>
          <p:nvPr/>
        </p:nvSpPr>
        <p:spPr>
          <a:xfrm>
            <a:off x="7250000" y="1520000"/>
            <a:ext cx="4300000" cy="3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buNone/>
            </a:pPr>
            <a:r>
              <a:rPr lang="zh-CN" altLang="en-US" sz="1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电脑端写下思路与 main.cpp 初稿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Aft>
                <a:spcPts val="500"/>
              </a:spcAft>
              <a:buNone/>
            </a:pPr>
            <a:r>
              <a:rPr lang="zh-CN" altLang="en-US" sz="1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电脑端发起手机配对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Aft>
                <a:spcPts val="500"/>
              </a:spcAft>
              <a:buNone/>
            </a:pPr>
            <a:r>
              <a:rPr lang="zh-CN" altLang="en-US" sz="1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手机输入配对码连接电脑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Aft>
                <a:spcPts val="500"/>
              </a:spcAft>
              <a:buNone/>
            </a:pPr>
            <a:r>
              <a:rPr lang="zh-CN" altLang="en-US" sz="1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手机端编写 main.cpp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Aft>
                <a:spcPts val="500"/>
              </a:spcAft>
              <a:buNone/>
            </a:pPr>
            <a:r>
              <a:rPr lang="zh-CN" altLang="en-US" sz="1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保存草稿并同步到 Web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Aft>
                <a:spcPts val="500"/>
              </a:spcAft>
              <a:buNone/>
            </a:pPr>
            <a:r>
              <a:rPr lang="zh-CN" altLang="en-US" sz="1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 忠实转换（真实模型）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Aft>
                <a:spcPts val="500"/>
              </a:spcAft>
              <a:buNone/>
            </a:pPr>
            <a:r>
              <a:rPr lang="zh-CN" altLang="en-US" sz="1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独立复写 rewrite.cpp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Aft>
                <a:spcPts val="500"/>
              </a:spcAft>
              <a:buNone/>
            </a:pPr>
            <a:r>
              <a:rPr lang="zh-CN" altLang="en-US" sz="1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复写与 AI 代码对比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Aft>
                <a:spcPts val="500"/>
              </a:spcAft>
              <a:buNone/>
            </a:pPr>
            <a:r>
              <a:rPr lang="zh-CN" altLang="en-US" sz="1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手机端保存复写并同步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Aft>
                <a:spcPts val="500"/>
              </a:spcAft>
              <a:buNone/>
            </a:pPr>
            <a:r>
              <a:rPr lang="zh-CN" altLang="en-US" sz="1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 端确认配对与同步结果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3" name="形状 243"/>
          <p:cNvSpPr/>
          <p:nvPr/>
        </p:nvSpPr>
        <p:spPr>
          <a:xfrm>
            <a:off x="600634" y="5280000"/>
            <a:ext cx="10950000" cy="820000"/>
          </a:xfrm>
          <a:prstGeom prst="roundRect">
            <a:avLst>
              <a:gd name="adj" fmla="val 10000"/>
            </a:avLst>
          </a:prstGeom>
          <a:solidFill>
            <a:srgbClr val="F7F7F7"/>
          </a:solidFill>
          <a:ln>
            <a:noFill/>
          </a:ln>
        </p:spPr>
        <p:txBody>
          <a:bodyPr wrap="square" lIns="180000" tIns="90000" rIns="180000" bIns="90000" rtlCol="0" anchor="ctr">
            <a:no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buNone/>
            </a:pPr>
            <a:r>
              <a:rPr lang="zh-CN" altLang="en-US" sz="1050" dirty="0">
                <a:solidFill>
                  <a:srgbClr val="6B6B6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录制环境：HarmonyOS 模拟器（Mate 70 Pro，API 20）+ 本机浏览器 Web 工作台 + 局域网 sync-api，属于本地验证。录像使用 Debug 包，AI 经开发者电脑上的本机 AI Gateway 调用真实大模型，不是应用提供的云端服务；应用市场版本为不联网单机版，不含同步与 AI 入口。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72EC0F3-C667-DB7F-8743-C10D580D3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F90361-5688-1C9F-94C8-4155ADF16C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AlgoFlow-赛事演示配音补全版">
            <a:hlinkClick r:id="" action="ppaction://media"/>
            <a:extLst>
              <a:ext uri="{FF2B5EF4-FFF2-40B4-BE49-F238E27FC236}">
                <a16:creationId xmlns:a16="http://schemas.microsoft.com/office/drawing/2014/main" id="{2761B98E-ECB1-49AD-867B-8F1BB0CCA2D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635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003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A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8"/>
          <p:cNvSpPr txBox="1"/>
          <p:nvPr/>
        </p:nvSpPr>
        <p:spPr>
          <a:xfrm>
            <a:off x="3557237" y="1942121"/>
            <a:ext cx="507752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1"/>
              </a:spcBef>
              <a:spcAft>
                <a:spcPct val="1"/>
              </a:spcAft>
              <a:buClrTx/>
              <a:buSzTx/>
              <a:buFontTx/>
              <a:buNone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armonyOS Sans" panose="00000800000000000000" charset="0"/>
              </a:rPr>
              <a:t>谢  谢</a:t>
            </a:r>
            <a:endParaRPr kumimoji="0" lang="en-US" altLang="zh-CN" sz="6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HarmonyOS Sans" panose="00000800000000000000" charset="0"/>
            </a:endParaRPr>
          </a:p>
        </p:txBody>
      </p:sp>
      <p:sp>
        <p:nvSpPr>
          <p:cNvPr id="40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1026</Words>
  <Application>Microsoft Office PowerPoint</Application>
  <PresentationFormat>宽屏</PresentationFormat>
  <Paragraphs>104</Paragraphs>
  <Slides>9</Slides>
  <Notes>1</Notes>
  <HiddenSlides>0</HiddenSlides>
  <MMClips>1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Source Han Sans CN Normal</vt:lpstr>
      <vt:lpstr>等线</vt:lpstr>
      <vt:lpstr>微软雅黑</vt:lpstr>
      <vt:lpstr>Arial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Tippydes sekai</cp:lastModifiedBy>
  <cp:revision>4</cp:revision>
  <dcterms:created xsi:type="dcterms:W3CDTF">2026-10-25T10:30:58Z</dcterms:created>
  <dcterms:modified xsi:type="dcterms:W3CDTF">2026-10-30T11:27:19Z</dcterms:modified>
</cp:coreProperties>
</file>